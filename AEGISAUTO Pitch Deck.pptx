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layfair Display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Playfair Display Black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E4036A-1802-434F-ABF7-612C4ACC3422}">
  <a:tblStyle styleId="{ABE4036A-1802-434F-ABF7-612C4ACC342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regular.fntdata"/><Relationship Id="rId22" Type="http://schemas.openxmlformats.org/officeDocument/2006/relationships/font" Target="fonts/PlayfairDisplay-italic.fntdata"/><Relationship Id="rId21" Type="http://schemas.openxmlformats.org/officeDocument/2006/relationships/font" Target="fonts/PlayfairDisplay-bold.fntdata"/><Relationship Id="rId24" Type="http://schemas.openxmlformats.org/officeDocument/2006/relationships/font" Target="fonts/Inter-regular.fntdata"/><Relationship Id="rId23" Type="http://schemas.openxmlformats.org/officeDocument/2006/relationships/font" Target="fonts/PlayfairDispl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PlayfairDisplayBlack-bold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ayfairDisplayBlack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17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9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Relationship Id="rId8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553075"/>
            <a:ext cx="110299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581025" y="628650"/>
            <a:ext cx="1847850" cy="257175"/>
          </a:xfrm>
          <a:prstGeom prst="rect">
            <a:avLst/>
          </a:prstGeom>
          <a:solidFill>
            <a:srgbClr val="A619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23900" y="676275"/>
            <a:ext cx="2371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IDEA SUBMISSION 2026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001125" y="471750"/>
            <a:ext cx="261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ET AutoTech Hackathon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81025" y="2314575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6192E"/>
                </a:solidFill>
                <a:latin typeface="Inter"/>
                <a:ea typeface="Inter"/>
                <a:cs typeface="Inter"/>
                <a:sym typeface="Inter"/>
              </a:rPr>
              <a:t>THEME 1: AI FOR RESILIENT SUPPLY CHAINS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66775" y="2695575"/>
            <a:ext cx="1128141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150" u="none" cap="none" strike="noStrike">
                <a:solidFill>
                  <a:srgbClr val="1A1A1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AEGISAUTO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581025" y="2695575"/>
            <a:ext cx="114300" cy="781050"/>
          </a:xfrm>
          <a:prstGeom prst="rect">
            <a:avLst/>
          </a:prstGeom>
          <a:solidFill>
            <a:srgbClr val="A619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81025" y="3743325"/>
            <a:ext cx="7620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Cognitive Orchestration Engine bridging Global Macro-Risk with Real-Time Smart Manufacturing Shop Floors.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81025" y="5762625"/>
            <a:ext cx="2371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TEAM: PHOENIX CODERS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95325" y="5934625"/>
            <a:ext cx="2371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Lead Developer: P.SAIKUNDAN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9058275" y="5776912"/>
            <a:ext cx="2552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6192E"/>
                </a:solidFill>
                <a:latin typeface="Inter"/>
                <a:ea typeface="Inter"/>
                <a:cs typeface="Inter"/>
                <a:sym typeface="Inter"/>
              </a:rPr>
              <a:t>HACKATHON DELIVERABLE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9058275" y="5946187"/>
            <a:ext cx="2552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Proprietary Concept &amp; Architecture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81025" y="6400800"/>
            <a:ext cx="2505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PART 01: DEPTH OF PROBLEM INSIGHT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619750" y="3405188"/>
            <a:ext cx="952500" cy="47700"/>
          </a:xfrm>
          <a:prstGeom prst="rect">
            <a:avLst/>
          </a:prstGeom>
          <a:solidFill>
            <a:srgbClr val="A619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2765583" y="2433725"/>
            <a:ext cx="666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The Volatility Gap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2286000" y="3905250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Why standard ERPs fail to protect the modern Indian automotive shop floor during global geopolitical disruptions.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E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62212"/>
            <a:ext cx="5229225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62212"/>
            <a:ext cx="5229225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81025" y="6400800"/>
            <a:ext cx="4152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B5C1A"/>
                </a:solidFill>
                <a:latin typeface="Inter"/>
                <a:ea typeface="Inter"/>
                <a:cs typeface="Inter"/>
                <a:sym typeface="Inter"/>
              </a:rPr>
              <a:t>PROPOSED IDEA: COGNITIVE SUPPLY-TO-SHOP FLOOR ENGINE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THEME SUMMARY &amp; SOLUTION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81025" y="1285875"/>
            <a:ext cx="11029950" cy="28575"/>
          </a:xfrm>
          <a:prstGeom prst="rect">
            <a:avLst/>
          </a:prstGeom>
          <a:solidFill>
            <a:srgbClr val="A619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971550" y="2900362"/>
            <a:ext cx="467058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6192E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The Challenge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71550" y="3500437"/>
            <a:ext cx="44481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Global supply chains are silos. When Suez logistics fail or raw material costs spike, the shop floor only reacts when the line stops. This </a:t>
            </a: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Reactive Gap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costs OEMs billions in idling and quality degradation.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772275" y="2900362"/>
            <a:ext cx="467058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6192E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The AegisAuto Edge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772275" y="3500437"/>
            <a:ext cx="44481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AegisAuto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is a </a:t>
            </a: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New Solution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—an AI loop that ingests macro-disruptions (Geopolitics, Logistics) and immediately re-calibrates micro-ops (Cpk, CNC settings, Sourcing) before the bottleneck arrives.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E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81025" y="1257300"/>
            <a:ext cx="519064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FRAGILE NETWORKS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81025" y="2343150"/>
            <a:ext cx="519064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6192E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Complex &amp; Vulnerable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81025" y="3086100"/>
            <a:ext cx="49434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Disruptions from geopolitical tensions and logistics constraints impact production costs and business continuity instantly.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81025" y="4324350"/>
            <a:ext cx="49434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India's automotive hubs require localized resilience. AegisAuto provides </a:t>
            </a: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early risk detection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alternate sourcing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intelligence across suppliers, geographies, and materials.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E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4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81025" y="6400800"/>
            <a:ext cx="21431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B5C1A"/>
                </a:solidFill>
                <a:latin typeface="Inter"/>
                <a:ea typeface="Inter"/>
                <a:cs typeface="Inter"/>
                <a:sym typeface="Inter"/>
              </a:rPr>
              <a:t>IMPACT &amp; SCALABILITY METRICS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81025" y="3005300"/>
            <a:ext cx="5229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A6192E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35%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81025" y="4419600"/>
            <a:ext cx="52292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B5C1A"/>
                </a:solidFill>
                <a:latin typeface="Inter"/>
                <a:ea typeface="Inter"/>
                <a:cs typeface="Inter"/>
                <a:sym typeface="Inter"/>
              </a:rPr>
              <a:t>REDUCTION IN LINE IDLING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BUSINESS IMPACT MODEL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81025" y="1285875"/>
            <a:ext cx="11029950" cy="28575"/>
          </a:xfrm>
          <a:prstGeom prst="rect">
            <a:avLst/>
          </a:prstGeom>
          <a:solidFill>
            <a:srgbClr val="A619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6381750" y="2876550"/>
            <a:ext cx="549068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6192E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Proven Efficiency Gains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381750" y="3476625"/>
            <a:ext cx="5229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By shifting from reactive manual sourcing to </a:t>
            </a: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AI-Driven Predictive Substitution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, we minimize factory downtime. Our model forecasts that early intervention in logistics halts can preserve up to 40% of standard production margin lost to sudden shortages.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E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81212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25" y="2157412"/>
            <a:ext cx="512445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2240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3194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4414837"/>
            <a:ext cx="1428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FEASIBILITY &amp; SCALABILITY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81025" y="1285875"/>
            <a:ext cx="11029950" cy="28575"/>
          </a:xfrm>
          <a:prstGeom prst="rect">
            <a:avLst/>
          </a:prstGeom>
          <a:solidFill>
            <a:srgbClr val="A619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6715125" y="2233612"/>
            <a:ext cx="48958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Low-Cost Implementation: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Deploys on existing CCTV and ERP infrastructure using lightweight API connectors.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715125" y="3328987"/>
            <a:ext cx="48958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Modular Scalability: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Can be deployed for a single assembly line or scaled across a global Tier-1 network.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715125" y="4424362"/>
            <a:ext cx="48958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India-Ready: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Optimized for emerging market constraints like localized energy spikes and logistics variability.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E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581025" y="6400800"/>
            <a:ext cx="2819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B5C1A"/>
                </a:solidFill>
                <a:latin typeface="Inter"/>
                <a:ea typeface="Inter"/>
                <a:cs typeface="Inter"/>
                <a:sym typeface="Inter"/>
              </a:rPr>
              <a:t>TECHNICAL SOUNDNESS &amp; ARCHITECTURE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581025" y="2471737"/>
            <a:ext cx="11029950" cy="30289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p19"/>
          <p:cNvGraphicFramePr/>
          <p:nvPr/>
        </p:nvGraphicFramePr>
        <p:xfrm>
          <a:off x="581025" y="24717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{ABE4036A-1802-434F-ABF7-612C4ACC3422}</a:tableStyleId>
              </a:tblPr>
              <a:tblGrid>
                <a:gridCol w="2086725"/>
                <a:gridCol w="3795125"/>
                <a:gridCol w="5148125"/>
              </a:tblGrid>
              <a:tr h="60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Technology 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Intelligence 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192E"/>
                    </a:solidFill>
                  </a:tcPr>
                </a:tc>
              </a:tr>
              <a:tr h="60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Macro Ingestion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LangChain + Gemini 2.5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Parsing Geopolitical news &amp; Logistics APIs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Reasoning 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FastAPI + Structured JSON Agent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Determining alternate sourcing &amp; material paths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60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Micro Edge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YOLOv8 + OpenCV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Real-time computer vision defect detection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Dashboard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Streamlit / React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Executive Risk HUD &amp; Operator Guidance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19"/>
          <p:cNvSpPr/>
          <p:nvPr/>
        </p:nvSpPr>
        <p:spPr>
          <a:xfrm>
            <a:off x="581025" y="3714750"/>
            <a:ext cx="208671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2667744" y="3714750"/>
            <a:ext cx="379511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6462861" y="3714750"/>
            <a:ext cx="514811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581025" y="4305300"/>
            <a:ext cx="208671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2667744" y="4305300"/>
            <a:ext cx="379511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6462861" y="4305300"/>
            <a:ext cx="514811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581025" y="4895850"/>
            <a:ext cx="208671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2667744" y="4895850"/>
            <a:ext cx="379511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6462861" y="4895850"/>
            <a:ext cx="514811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581025" y="5486400"/>
            <a:ext cx="208671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2667744" y="5486400"/>
            <a:ext cx="379511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6462861" y="5486400"/>
            <a:ext cx="514811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PROPOSED TECH STACK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81025" y="1285875"/>
            <a:ext cx="11029950" cy="28575"/>
          </a:xfrm>
          <a:prstGeom prst="rect">
            <a:avLst/>
          </a:prstGeom>
          <a:solidFill>
            <a:srgbClr val="A619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E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95450"/>
            <a:ext cx="11029950" cy="45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PROCESS STABILITY IMPROVEMENT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81025" y="1285875"/>
            <a:ext cx="11029950" cy="28575"/>
          </a:xfrm>
          <a:prstGeom prst="rect">
            <a:avLst/>
          </a:prstGeom>
          <a:solidFill>
            <a:srgbClr val="A619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81025" y="4605337"/>
            <a:ext cx="11029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AegisAuto dramatically stabilizes Cp/Cpk metrics during material substitution events by adjusting machine parameters in real-time.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E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95450"/>
            <a:ext cx="11029950" cy="45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581025" y="6400800"/>
            <a:ext cx="34956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B5C1A"/>
                </a:solidFill>
                <a:latin typeface="Inter"/>
                <a:ea typeface="Inter"/>
                <a:cs typeface="Inter"/>
                <a:sym typeface="Inter"/>
              </a:rPr>
              <a:t>REASONING/INTELLIGENCE ARCHITECTURE CLARITY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STRATEGIC RISK MITIGATION</a:t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581025" y="1285875"/>
            <a:ext cx="11029950" cy="28575"/>
          </a:xfrm>
          <a:prstGeom prst="rect">
            <a:avLst/>
          </a:prstGeom>
          <a:solidFill>
            <a:srgbClr val="A619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E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71725"/>
            <a:ext cx="348615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71725"/>
            <a:ext cx="348615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371725"/>
            <a:ext cx="348615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26574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6574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67862" y="2657475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INTELLIGENCE DESIGN</a:t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581025" y="1285875"/>
            <a:ext cx="11029950" cy="28575"/>
          </a:xfrm>
          <a:prstGeom prst="rect">
            <a:avLst/>
          </a:prstGeom>
          <a:solidFill>
            <a:srgbClr val="A619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793908" y="3324225"/>
            <a:ext cx="306038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6192E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Ingest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866775" y="3924300"/>
            <a:ext cx="2914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Scrapes macro-signals: Suez canal delays, customs friction, and metal spot prices.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4565808" y="3324225"/>
            <a:ext cx="306038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6192E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Reason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4638675" y="3924300"/>
            <a:ext cx="2914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AI Agent recommends pre-vetted alternate Tier-2 suppliers and material substitutes.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8337708" y="3324225"/>
            <a:ext cx="306038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6192E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Adjust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8410575" y="3924300"/>
            <a:ext cx="2914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Dynamically updates shop floor machine calibration for the new material grade.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E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14600"/>
            <a:ext cx="5229225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7950" y="2590800"/>
            <a:ext cx="13525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REAL-TIME QUALITY MONITORING</a:t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581025" y="1285875"/>
            <a:ext cx="11029950" cy="28575"/>
          </a:xfrm>
          <a:prstGeom prst="rect">
            <a:avLst/>
          </a:prstGeom>
          <a:solidFill>
            <a:srgbClr val="A619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581025" y="2514600"/>
            <a:ext cx="549068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6192E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Computer Vision HUD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581025" y="3114675"/>
            <a:ext cx="52292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Our operator guidance system uses Edge AI to detect defects in real-time. If a geopolitical disruption forces a shift from high-grade to mid-grade steel, AegisAuto instantly: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857250" y="444817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962025" y="4448175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Adjusts weld-point temperature sensors.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857250" y="473392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962025" y="4733925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Notifies the operator of the material change.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857250" y="501967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962025" y="5019675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Maintains </a:t>
            </a: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Cp/Cpk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within strict tolerances.</a:t>
            </a:r>
            <a:endParaRPr/>
          </a:p>
        </p:txBody>
      </p:sp>
      <p:pic>
        <p:nvPicPr>
          <p:cNvPr id="233" name="Google Shape;23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1750" y="2628900"/>
            <a:ext cx="5051652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E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0" y="4081462"/>
            <a:ext cx="5715000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/>
          <p:nvPr/>
        </p:nvSpPr>
        <p:spPr>
          <a:xfrm>
            <a:off x="4852987" y="709612"/>
            <a:ext cx="2486025" cy="257175"/>
          </a:xfrm>
          <a:prstGeom prst="rect">
            <a:avLst/>
          </a:prstGeom>
          <a:solidFill>
            <a:srgbClr val="A619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3919700" y="718900"/>
            <a:ext cx="4266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HACKATHON SUBMISSION READY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3533775" y="4948237"/>
            <a:ext cx="5124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5C1A"/>
                </a:solidFill>
                <a:latin typeface="Inter"/>
                <a:ea typeface="Inter"/>
                <a:cs typeface="Inter"/>
                <a:sym typeface="Inter"/>
              </a:rPr>
              <a:t>Lead: P.SAIKUNDAN | Theme 1: Smart Manufacturing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3590686" y="1252537"/>
            <a:ext cx="5010626" cy="126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1A1A1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Thank You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2757487" y="2938462"/>
            <a:ext cx="66770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6192E"/>
                </a:solidFill>
                <a:latin typeface="Inter"/>
                <a:ea typeface="Inter"/>
                <a:cs typeface="Inter"/>
                <a:sym typeface="Inter"/>
              </a:rPr>
              <a:t>AEGISAUTO: THE FUTURE OF RESILIENT MANUFACTURING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4195762" y="5815012"/>
            <a:ext cx="3800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Contact for Prototype Technical Documentation &amp; Git Access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3533775" y="4567237"/>
            <a:ext cx="5124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PHOENIX CODERS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E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0511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66236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6053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IMAGE SOURCES</a:t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581025" y="1285875"/>
            <a:ext cx="11029950" cy="28575"/>
          </a:xfrm>
          <a:prstGeom prst="rect">
            <a:avLst/>
          </a:prstGeom>
          <a:solidFill>
            <a:srgbClr val="A619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81025" y="2662237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81025" y="3433762"/>
            <a:ext cx="110299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81025" y="34242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81025" y="34242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81025" y="43672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81025" y="43672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1676400" y="2812256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https://framerusercontent.com/images/Nq2Vx7zLb1R5fB6fo4PHG1HT1iw.jpg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1676400" y="3045618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www.sourcemap.com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676400" y="3576637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https://media.istockphoto.com/id/1654943682/photo/advanced-high-precision-robot-arms-on-fully-automated-pcb-assembly-line-inside-modern.jpg?s=612x612&amp;w=0&amp;k=20&amp;c=TfEn1JTNOs_xR6cqVO0vHxjRcgisbnXxuaKGljbwoPM=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1676400" y="3995737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1676400" y="4519612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https://media.istockphoto.com/id/1733213138/photo/ev-production-line-on-advanced-automated-smart-factory-high-performance-electric-car.jpg?s=612x612&amp;w=0&amp;k=20&amp;c=Xx_xbNtO_xNfxy5gUxorhFtQqF8E-YffsKoNaVZf8-8=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676400" y="4938712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